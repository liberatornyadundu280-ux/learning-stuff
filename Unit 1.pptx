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61" r:id="rId3"/>
    <p:sldId id="262" r:id="rId4"/>
    <p:sldId id="272" r:id="rId5"/>
    <p:sldId id="273" r:id="rId6"/>
    <p:sldId id="274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5" r:id="rId16"/>
    <p:sldId id="270" r:id="rId17"/>
    <p:sldId id="276" r:id="rId18"/>
    <p:sldId id="277" r:id="rId19"/>
    <p:sldId id="278" r:id="rId20"/>
    <p:sldId id="279" r:id="rId21"/>
    <p:sldId id="280" r:id="rId22"/>
    <p:sldId id="281" r:id="rId23"/>
  </p:sldIdLst>
  <p:sldSz cx="12192000" cy="6858000"/>
  <p:notesSz cx="12192000" cy="6858000"/>
  <p:embeddedFontLst>
    <p:embeddedFont>
      <p:font typeface="Abadi" panose="020B0604020104020204" pitchFamily="34" charset="0"/>
      <p:regular r:id="rId25"/>
    </p:embeddedFont>
    <p:embeddedFont>
      <p:font typeface="ADLaM Display" panose="02010000000000000000" pitchFamily="2" charset="0"/>
      <p:regular r:id="rId26"/>
    </p:embeddedFont>
    <p:embeddedFont>
      <p:font typeface="Aharoni" panose="02010803020104030203" pitchFamily="2" charset="-79"/>
      <p:bold r:id="rId27"/>
    </p:embeddedFont>
    <p:embeddedFont>
      <p:font typeface="Arial Rounded MT Bold" panose="020F0704030504030204" pitchFamily="34" charset="0"/>
      <p:regular r:id="rId28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DCE28B6-DBFE-4620-B95B-46D05A4EFA88}" type="datetime1">
              <a:t>6/30/2025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pic>
        <p:nvPicPr>
          <p:cNvPr id="5" name="Picture 2">
            <a:extLst>
              <a:ext uri="{DAD87817-DB1B-4DE8-BD41-41BB3E99A7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13D2877-58CC-4844-975B-B8D6496C43E9}" type="datetime1">
              <a:t>6/30/2025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5" name="Slide Number Placeholder 3">
            <a:extLst>
              <a:ext uri="{A59E037D-D639-4F65-9477-94A0EBCDC4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23D07-B41D-4865-9117-A59235B241FC}" type="datetime1">
              <a:t>6/30/2025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6" name="Slide Number Placeholder 5">
            <a:extLst>
              <a:ext uri="{35F2950A-B1CB-4727-AB58-367C2C82CE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/index.ph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2140DA9-F832-465D-86DE-FEB6803F3756}"/>
              </a:ext>
            </a:extLst>
          </p:cNvPr>
          <p:cNvSpPr txBox="1"/>
          <p:nvPr/>
        </p:nvSpPr>
        <p:spPr>
          <a:xfrm>
            <a:off x="838200" y="2438400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Object Oriented Programming through C++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IN" sz="2800" dirty="0">
                <a:solidFill>
                  <a:srgbClr val="C00000"/>
                </a:solidFill>
              </a:rPr>
              <a:t>Course Code: 241CS008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itle 1">
            <a:extLst>
              <a:ext uri="{20663F85-F48B-43E1-96BA-3B1BE53937F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82DE41-6288-42A5-A437-B3C890B5FD67}"/>
              </a:ext>
            </a:extLst>
          </p:cNvPr>
          <p:cNvSpPr txBox="1"/>
          <p:nvPr/>
        </p:nvSpPr>
        <p:spPr>
          <a:xfrm>
            <a:off x="228600" y="4495800"/>
            <a:ext cx="11811000" cy="1317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0000"/>
                </a:solidFill>
                <a:latin typeface="Abadi"/>
              </a:rPr>
              <a:t>Course Instructor: 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70C0"/>
                </a:solidFill>
                <a:latin typeface="Abadi"/>
              </a:rPr>
              <a:t>Dr. Chandra Sekhar K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70C0"/>
                </a:solidFill>
                <a:latin typeface="Abadi"/>
              </a:rPr>
              <a:t>Associate Professor, 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70C0"/>
                </a:solidFill>
                <a:latin typeface="Abadi"/>
              </a:rPr>
              <a:t>CSE Dept.</a:t>
            </a:r>
          </a:p>
        </p:txBody>
      </p:sp>
    </p:spTree>
    <p:extLst>
      <p:ext uri="{59DB2955-81A9-4330-9517-4CB607EFC6F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126916-C468-279F-BD39-3F148337982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981200"/>
            <a:ext cx="11811000" cy="4531419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Course Outcomes: </a:t>
            </a:r>
          </a:p>
          <a:p>
            <a:r>
              <a:rPr lang="en-GB" dirty="0">
                <a:solidFill>
                  <a:srgbClr val="C00000"/>
                </a:solidFill>
              </a:rPr>
              <a:t>At the end of the course, student will be able to: </a:t>
            </a:r>
          </a:p>
          <a:p>
            <a:r>
              <a:rPr lang="en-GB" dirty="0">
                <a:solidFill>
                  <a:srgbClr val="C00000"/>
                </a:solidFill>
              </a:rPr>
              <a:t>CO1:</a:t>
            </a:r>
            <a:r>
              <a:rPr lang="en-GB" dirty="0"/>
              <a:t> Make use of C and C++ programming constructs to demonstrate OOP concepts. </a:t>
            </a:r>
          </a:p>
          <a:p>
            <a:r>
              <a:rPr lang="en-GB" dirty="0">
                <a:solidFill>
                  <a:srgbClr val="C00000"/>
                </a:solidFill>
              </a:rPr>
              <a:t>CO2: </a:t>
            </a:r>
            <a:r>
              <a:rPr lang="en-GB" dirty="0"/>
              <a:t>Develop applications using constructor and destructor. </a:t>
            </a:r>
          </a:p>
          <a:p>
            <a:r>
              <a:rPr lang="en-GB" dirty="0">
                <a:solidFill>
                  <a:srgbClr val="C00000"/>
                </a:solidFill>
              </a:rPr>
              <a:t>CO3:</a:t>
            </a:r>
            <a:r>
              <a:rPr lang="en-GB" dirty="0"/>
              <a:t> Apply C++ features for problem solving. </a:t>
            </a:r>
          </a:p>
          <a:p>
            <a:r>
              <a:rPr lang="en-GB" dirty="0">
                <a:solidFill>
                  <a:srgbClr val="C00000"/>
                </a:solidFill>
              </a:rPr>
              <a:t>CO4:</a:t>
            </a:r>
            <a:r>
              <a:rPr lang="en-GB" dirty="0"/>
              <a:t> Apply inheritance concepts and file I/O to solve a given problem. </a:t>
            </a:r>
          </a:p>
          <a:p>
            <a:r>
              <a:rPr lang="en-GB" dirty="0">
                <a:solidFill>
                  <a:srgbClr val="C00000"/>
                </a:solidFill>
              </a:rPr>
              <a:t>CO5:</a:t>
            </a:r>
            <a:r>
              <a:rPr lang="en-GB" dirty="0"/>
              <a:t> Design C++ classes using templates and STL.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B5994-EE40-87FF-F33A-D6D4404A2844}"/>
              </a:ext>
            </a:extLst>
          </p:cNvPr>
          <p:cNvSpPr txBox="1"/>
          <p:nvPr/>
        </p:nvSpPr>
        <p:spPr>
          <a:xfrm>
            <a:off x="10287000" y="152400"/>
            <a:ext cx="2133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FF"/>
                </a:solidFill>
              </a:rPr>
              <a:t>L T P C</a:t>
            </a:r>
          </a:p>
          <a:p>
            <a:r>
              <a:rPr lang="en-IN" sz="3200" dirty="0">
                <a:solidFill>
                  <a:srgbClr val="0000FF"/>
                </a:solidFill>
              </a:rPr>
              <a:t>2 0 2 4 </a:t>
            </a:r>
          </a:p>
        </p:txBody>
      </p:sp>
    </p:spTree>
    <p:extLst>
      <p:ext uri="{BB962C8B-B14F-4D97-AF65-F5344CB8AC3E}">
        <p14:creationId xmlns:p14="http://schemas.microsoft.com/office/powerpoint/2010/main" val="48637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244145-F1D4-8617-B671-EE7E286CC634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828800"/>
            <a:ext cx="11397142" cy="38862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9FCD87-84F4-09E0-6181-144BE7229E54}"/>
              </a:ext>
            </a:extLst>
          </p:cNvPr>
          <p:cNvSpPr txBox="1"/>
          <p:nvPr/>
        </p:nvSpPr>
        <p:spPr>
          <a:xfrm>
            <a:off x="5029200" y="914400"/>
            <a:ext cx="2057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00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400314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97E26F-2569-7B79-440A-7EA58EC354C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81000" y="1219200"/>
            <a:ext cx="11277600" cy="4874095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Introduction to C++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C++ is a powerful C++ is a </a:t>
            </a:r>
            <a:r>
              <a:rPr lang="en-GB" u="sng" dirty="0">
                <a:solidFill>
                  <a:srgbClr val="0000FF"/>
                </a:solidFill>
              </a:rPr>
              <a:t>general-purpose</a:t>
            </a:r>
            <a:r>
              <a:rPr lang="en-GB" dirty="0"/>
              <a:t> programming language.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Developed by </a:t>
            </a:r>
            <a:r>
              <a:rPr lang="en-GB" dirty="0">
                <a:solidFill>
                  <a:srgbClr val="00B050"/>
                </a:solidFill>
              </a:rPr>
              <a:t>Bjarne Stroustrup at Bell Labs</a:t>
            </a:r>
            <a:r>
              <a:rPr lang="en-GB" dirty="0"/>
              <a:t>.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It is designed to be used for writing software in a wide variety of application domains</a:t>
            </a:r>
            <a:r>
              <a:rPr lang="en-GB" dirty="0"/>
              <a:t>, not just for a specific type of task.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2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8B57C5-E39A-FC29-2670-45F91CAC821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4800" y="1143000"/>
            <a:ext cx="11506200" cy="5181600"/>
          </a:xfrm>
        </p:spPr>
        <p:txBody>
          <a:bodyPr>
            <a:normAutofit fontScale="92500"/>
          </a:bodyPr>
          <a:lstStyle/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FF"/>
                </a:solidFill>
              </a:rPr>
              <a:t>Versatility</a:t>
            </a:r>
            <a:r>
              <a:rPr lang="en-GB" dirty="0"/>
              <a:t>: C++ can be used to develop </a:t>
            </a:r>
            <a:r>
              <a:rPr lang="en-GB" dirty="0">
                <a:solidFill>
                  <a:srgbClr val="C00000"/>
                </a:solidFill>
              </a:rPr>
              <a:t>system software </a:t>
            </a:r>
            <a:r>
              <a:rPr lang="en-GB" dirty="0"/>
              <a:t>(like operating systems), </a:t>
            </a:r>
            <a:r>
              <a:rPr lang="en-GB" dirty="0">
                <a:solidFill>
                  <a:srgbClr val="C00000"/>
                </a:solidFill>
              </a:rPr>
              <a:t>application software </a:t>
            </a:r>
            <a:r>
              <a:rPr lang="en-GB" dirty="0"/>
              <a:t>(like games or GUIs), </a:t>
            </a:r>
            <a:r>
              <a:rPr lang="en-GB" dirty="0">
                <a:solidFill>
                  <a:srgbClr val="C00000"/>
                </a:solidFill>
              </a:rPr>
              <a:t>drivers</a:t>
            </a:r>
            <a:r>
              <a:rPr lang="en-GB" dirty="0"/>
              <a:t>, </a:t>
            </a:r>
            <a:r>
              <a:rPr lang="en-GB" dirty="0">
                <a:solidFill>
                  <a:srgbClr val="C00000"/>
                </a:solidFill>
              </a:rPr>
              <a:t>embedded firmware</a:t>
            </a:r>
            <a:r>
              <a:rPr lang="en-GB" dirty="0"/>
              <a:t>, and more.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FF"/>
                </a:solidFill>
              </a:rPr>
              <a:t>No single domain</a:t>
            </a:r>
            <a:r>
              <a:rPr lang="en-GB" dirty="0"/>
              <a:t>: It's not limited to one field like web development, numerical computation, or graphics — </a:t>
            </a:r>
            <a:r>
              <a:rPr lang="en-GB" dirty="0">
                <a:solidFill>
                  <a:srgbClr val="C00000"/>
                </a:solidFill>
              </a:rPr>
              <a:t>it can do all of those.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FF"/>
                </a:solidFill>
              </a:rPr>
              <a:t>Performance and control</a:t>
            </a:r>
            <a:r>
              <a:rPr lang="en-GB" dirty="0"/>
              <a:t>: It </a:t>
            </a:r>
            <a:r>
              <a:rPr lang="en-GB" dirty="0">
                <a:solidFill>
                  <a:srgbClr val="0000FF"/>
                </a:solidFill>
              </a:rPr>
              <a:t>gives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low-level memory access </a:t>
            </a:r>
            <a:r>
              <a:rPr lang="en-GB" dirty="0"/>
              <a:t>(like C), but also </a:t>
            </a:r>
            <a:r>
              <a:rPr lang="en-GB" dirty="0">
                <a:solidFill>
                  <a:srgbClr val="00B050"/>
                </a:solidFill>
              </a:rPr>
              <a:t>supports high-level abstractions </a:t>
            </a:r>
            <a:r>
              <a:rPr lang="en-GB" dirty="0"/>
              <a:t>(like object-oriented programming), 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</a:rPr>
              <a:t>Suitable</a:t>
            </a:r>
            <a:r>
              <a:rPr lang="en-GB" dirty="0"/>
              <a:t> for both </a:t>
            </a:r>
            <a:r>
              <a:rPr lang="en-GB" dirty="0">
                <a:solidFill>
                  <a:srgbClr val="00B050"/>
                </a:solidFill>
              </a:rPr>
              <a:t>system-level and application-level </a:t>
            </a:r>
            <a:r>
              <a:rPr lang="en-GB" dirty="0"/>
              <a:t>development.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48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3ED42B-98AD-F3FB-E21E-86106129E535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Example Use Cases: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Operating systems (e.g., parts of Windows, Linux components)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Game engines (e.g., Unreal Engine)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Desktop applications (e.g., Adobe software)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Embedded systems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Financial </a:t>
            </a:r>
            <a:r>
              <a:rPr lang="en-IN" dirty="0" err="1"/>
              <a:t>modeling</a:t>
            </a:r>
            <a:r>
              <a:rPr lang="en-IN" dirty="0"/>
              <a:t> and simulations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423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A82921-32FE-1115-2D75-140E661829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1219200"/>
            <a:ext cx="114300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70C0"/>
                </a:solidFill>
              </a:rPr>
              <a:t>Evolution of C++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It is as an extension to the </a:t>
            </a:r>
            <a:r>
              <a:rPr lang="en-GB" dirty="0">
                <a:hlinkClick r:id="rId2"/>
              </a:rPr>
              <a:t>C language</a:t>
            </a:r>
            <a:r>
              <a:rPr lang="en-GB" dirty="0"/>
              <a:t>.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FF"/>
                </a:solidFill>
              </a:rPr>
              <a:t>C Language (1972 - Dennis Ritchie) </a:t>
            </a:r>
            <a:r>
              <a:rPr lang="en-GB" dirty="0"/>
              <a:t>Created at Bell Labs.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Designed for system programming and operating systems (e.g., UNIX).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FF"/>
                </a:solidFill>
              </a:rPr>
              <a:t>Need for Better Software Engineering Practices</a:t>
            </a:r>
          </a:p>
          <a:p>
            <a:pPr marL="13716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Software systems became large and complex.</a:t>
            </a:r>
          </a:p>
          <a:p>
            <a:pPr marL="13716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Limitations of procedural programming exposed.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914400" indent="-457200" algn="just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58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1E4E88-D56C-29F0-846D-5B24862DDAC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4800" y="1219200"/>
            <a:ext cx="11658600" cy="5486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err="1">
                <a:solidFill>
                  <a:srgbClr val="0000FF"/>
                </a:solidFill>
              </a:rPr>
              <a:t>Originallyy</a:t>
            </a:r>
            <a:r>
              <a:rPr lang="en-GB" b="1" dirty="0">
                <a:solidFill>
                  <a:srgbClr val="0000FF"/>
                </a:solidFill>
              </a:rPr>
              <a:t> called as </a:t>
            </a:r>
            <a:r>
              <a:rPr lang="en-GB" b="1" dirty="0">
                <a:solidFill>
                  <a:srgbClr val="C00000"/>
                </a:solidFill>
              </a:rPr>
              <a:t>C with Classes</a:t>
            </a:r>
            <a:r>
              <a:rPr lang="en-GB" b="1" dirty="0">
                <a:solidFill>
                  <a:srgbClr val="0000FF"/>
                </a:solidFill>
              </a:rPr>
              <a:t> (1979 - Bjarne Stroustrup)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Bjarne Stroustrup at Bell Labs </a:t>
            </a:r>
            <a:r>
              <a:rPr lang="en-GB" dirty="0">
                <a:solidFill>
                  <a:srgbClr val="00B050"/>
                </a:solidFill>
              </a:rPr>
              <a:t>extended C by adding </a:t>
            </a:r>
            <a:r>
              <a:rPr lang="en-GB" b="1" dirty="0">
                <a:solidFill>
                  <a:srgbClr val="00B050"/>
                </a:solidFill>
              </a:rPr>
              <a:t>classes</a:t>
            </a:r>
            <a:r>
              <a:rPr lang="en-GB" dirty="0"/>
              <a:t>.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Introduced </a:t>
            </a:r>
            <a:r>
              <a:rPr lang="en-GB" u="sng" dirty="0">
                <a:solidFill>
                  <a:srgbClr val="00B050"/>
                </a:solidFill>
              </a:rPr>
              <a:t>OOP principles </a:t>
            </a:r>
            <a:r>
              <a:rPr lang="en-GB" dirty="0">
                <a:solidFill>
                  <a:srgbClr val="00B050"/>
                </a:solidFill>
              </a:rPr>
              <a:t>while retaining C’s efficiency.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FF"/>
                </a:solidFill>
              </a:rPr>
              <a:t>Developed in the year 1983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FF"/>
                </a:solidFill>
              </a:rPr>
              <a:t>C++ (1985 - Official Release)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Enhanced with features like </a:t>
            </a:r>
            <a:r>
              <a:rPr lang="en-GB" b="1" u="sng" dirty="0">
                <a:solidFill>
                  <a:srgbClr val="FF0000"/>
                </a:solidFill>
              </a:rPr>
              <a:t>classes, objects, inheritance, polymorphism, operator overloading</a:t>
            </a:r>
            <a:r>
              <a:rPr lang="en-GB" u="sng" dirty="0">
                <a:solidFill>
                  <a:srgbClr val="FF0000"/>
                </a:solidFill>
              </a:rPr>
              <a:t>, etc.</a:t>
            </a:r>
          </a:p>
          <a:p>
            <a:pPr marL="9144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Backward compatible with C (you can run most C code in C++).</a:t>
            </a:r>
          </a:p>
        </p:txBody>
      </p:sp>
    </p:spTree>
    <p:extLst>
      <p:ext uri="{BB962C8B-B14F-4D97-AF65-F5344CB8AC3E}">
        <p14:creationId xmlns:p14="http://schemas.microsoft.com/office/powerpoint/2010/main" val="172809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272B1B5-D8D2-1E9B-7631-96CB44EA3414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743011328"/>
              </p:ext>
            </p:extLst>
          </p:nvPr>
        </p:nvGraphicFramePr>
        <p:xfrm>
          <a:off x="2895600" y="381000"/>
          <a:ext cx="8839200" cy="3535680"/>
        </p:xfrm>
        <a:graphic>
          <a:graphicData uri="http://schemas.openxmlformats.org/drawingml/2006/table">
            <a:tbl>
              <a:tblPr/>
              <a:tblGrid>
                <a:gridCol w="2433982">
                  <a:extLst>
                    <a:ext uri="{9D8B030D-6E8A-4147-A177-3AD203B41FA5}">
                      <a16:colId xmlns:a16="http://schemas.microsoft.com/office/drawing/2014/main" val="2183669809"/>
                    </a:ext>
                  </a:extLst>
                </a:gridCol>
                <a:gridCol w="6405218">
                  <a:extLst>
                    <a:ext uri="{9D8B030D-6E8A-4147-A177-3AD203B41FA5}">
                      <a16:colId xmlns:a16="http://schemas.microsoft.com/office/drawing/2014/main" val="2441188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b="1" dirty="0">
                          <a:solidFill>
                            <a:srgbClr val="FF0000"/>
                          </a:solidFill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solidFill>
                            <a:srgbClr val="FF0000"/>
                          </a:solidFill>
                        </a:rPr>
                        <a:t>Evolution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51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1972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C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989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1979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C with Classes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659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1983-85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First version of C++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99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1998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ISO Standard C++98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2011+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Modern C++ (C++11, C++14, C++17, C++20, C++23)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786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30065C-E7B1-AF09-5B27-ACE52FF30FEE}"/>
              </a:ext>
            </a:extLst>
          </p:cNvPr>
          <p:cNvSpPr txBox="1"/>
          <p:nvPr/>
        </p:nvSpPr>
        <p:spPr>
          <a:xfrm>
            <a:off x="762000" y="4419600"/>
            <a:ext cx="1082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C++</a:t>
            </a:r>
            <a:r>
              <a:rPr lang="en-GB" sz="2400" dirty="0"/>
              <a:t> evolved to overcome the limitations of C by supporting </a:t>
            </a:r>
            <a:r>
              <a:rPr lang="en-GB" sz="2400" b="1" dirty="0"/>
              <a:t>Object-Oriented Programming</a:t>
            </a:r>
            <a:r>
              <a:rPr lang="en-GB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6169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EEDA55-70C7-43E3-191B-719CACF56C3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914400"/>
            <a:ext cx="11734800" cy="5715000"/>
          </a:xfrm>
        </p:spPr>
        <p:txBody>
          <a:bodyPr/>
          <a:lstStyle/>
          <a:p>
            <a:pPr algn="ctr">
              <a:lnSpc>
                <a:spcPct val="140000"/>
              </a:lnSpc>
            </a:pPr>
            <a:r>
              <a:rPr lang="en-GB" sz="2700" b="1" dirty="0">
                <a:solidFill>
                  <a:srgbClr val="0070C0"/>
                </a:solidFill>
              </a:rPr>
              <a:t>Differences between C and C++</a:t>
            </a:r>
          </a:p>
          <a:p>
            <a:pPr marL="9144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IN" sz="2700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6509D3-23D0-610F-9B32-0F72C3F26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942272"/>
              </p:ext>
            </p:extLst>
          </p:nvPr>
        </p:nvGraphicFramePr>
        <p:xfrm>
          <a:off x="152400" y="1828800"/>
          <a:ext cx="11887200" cy="470689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72617467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612490984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995596351"/>
                    </a:ext>
                  </a:extLst>
                </a:gridCol>
              </a:tblGrid>
              <a:tr h="368061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C00000"/>
                          </a:solidFill>
                        </a:rPr>
                        <a:t>Feature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C00000"/>
                          </a:solidFill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C00000"/>
                          </a:solidFill>
                        </a:rPr>
                        <a:t>C++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08139"/>
                  </a:ext>
                </a:extLst>
              </a:tr>
              <a:tr h="644105">
                <a:tc>
                  <a:txBody>
                    <a:bodyPr/>
                    <a:lstStyle/>
                    <a:p>
                      <a:r>
                        <a:rPr lang="en-IN" sz="2400" b="1" dirty="0"/>
                        <a:t>Paradigm</a:t>
                      </a:r>
                      <a:endParaRPr lang="en-IN" sz="24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Procedural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Procedural + Object-Oriented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928651"/>
                  </a:ext>
                </a:extLst>
              </a:tr>
              <a:tr h="138291">
                <a:tc>
                  <a:txBody>
                    <a:bodyPr/>
                    <a:lstStyle/>
                    <a:p>
                      <a:r>
                        <a:rPr lang="en-IN" sz="2400" b="1"/>
                        <a:t>Encapsulation</a:t>
                      </a:r>
                      <a:endParaRPr lang="en-IN" sz="24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Not supported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Supported via classes and objects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548495"/>
                  </a:ext>
                </a:extLst>
              </a:tr>
              <a:tr h="644105">
                <a:tc>
                  <a:txBody>
                    <a:bodyPr/>
                    <a:lstStyle/>
                    <a:p>
                      <a:r>
                        <a:rPr lang="en-IN" sz="2400" b="1"/>
                        <a:t>Data Security</a:t>
                      </a:r>
                      <a:endParaRPr lang="en-IN" sz="24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Data is not secured </a:t>
                      </a:r>
                    </a:p>
                    <a:p>
                      <a:r>
                        <a:rPr lang="en-GB" sz="2400" dirty="0"/>
                        <a:t>(Global scope)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Supports data hiding through Access Specifiers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532809"/>
                  </a:ext>
                </a:extLst>
              </a:tr>
              <a:tr h="368061">
                <a:tc>
                  <a:txBody>
                    <a:bodyPr/>
                    <a:lstStyle/>
                    <a:p>
                      <a:r>
                        <a:rPr lang="en-IN" sz="2400" b="1" dirty="0"/>
                        <a:t>Inheritance &amp; Polymorphism</a:t>
                      </a:r>
                      <a:endParaRPr lang="en-IN" sz="24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Not supported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Supported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712317"/>
                  </a:ext>
                </a:extLst>
              </a:tr>
              <a:tr h="644105">
                <a:tc>
                  <a:txBody>
                    <a:bodyPr/>
                    <a:lstStyle/>
                    <a:p>
                      <a:r>
                        <a:rPr lang="en-IN" sz="2400" b="1" dirty="0"/>
                        <a:t>Standard Input/Output</a:t>
                      </a:r>
                      <a:endParaRPr lang="en-IN" sz="24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scanf</a:t>
                      </a:r>
                      <a:r>
                        <a:rPr lang="en-IN" sz="2400" dirty="0"/>
                        <a:t>() / </a:t>
                      </a:r>
                      <a:r>
                        <a:rPr lang="en-IN" sz="2400" dirty="0" err="1"/>
                        <a:t>printf</a:t>
                      </a:r>
                      <a:r>
                        <a:rPr lang="en-IN" sz="2400" dirty="0"/>
                        <a:t>()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/>
                        <a:t>cin</a:t>
                      </a:r>
                      <a:r>
                        <a:rPr lang="en-GB" sz="2400" dirty="0"/>
                        <a:t> / </a:t>
                      </a:r>
                      <a:r>
                        <a:rPr lang="en-GB" sz="2400" dirty="0" err="1"/>
                        <a:t>cout</a:t>
                      </a:r>
                      <a:r>
                        <a:rPr lang="en-GB" sz="2400" dirty="0"/>
                        <a:t> 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674339"/>
                  </a:ext>
                </a:extLst>
              </a:tr>
              <a:tr h="368061">
                <a:tc>
                  <a:txBody>
                    <a:bodyPr/>
                    <a:lstStyle/>
                    <a:p>
                      <a:r>
                        <a:rPr lang="en-IN" sz="2400" b="1" dirty="0"/>
                        <a:t>Exception Handling</a:t>
                      </a:r>
                      <a:endParaRPr lang="en-IN" sz="24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Manual (via return codes)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Built-in using try-catch blocks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03117"/>
                  </a:ext>
                </a:extLst>
              </a:tr>
              <a:tr h="368061">
                <a:tc>
                  <a:txBody>
                    <a:bodyPr/>
                    <a:lstStyle/>
                    <a:p>
                      <a:r>
                        <a:rPr lang="en-IN" sz="2400" b="1"/>
                        <a:t>File Extension</a:t>
                      </a:r>
                      <a:endParaRPr lang="en-IN" sz="24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.c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.</a:t>
                      </a:r>
                      <a:r>
                        <a:rPr lang="en-IN" sz="2400" dirty="0" err="1"/>
                        <a:t>cpp</a:t>
                      </a:r>
                      <a:endParaRPr lang="en-IN" sz="24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73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91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39BA88-9C77-E505-D808-B70DA52B0DF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4800" y="1561876"/>
            <a:ext cx="11734800" cy="4531419"/>
          </a:xfrm>
        </p:spPr>
        <p:txBody>
          <a:bodyPr/>
          <a:lstStyle/>
          <a:p>
            <a:pPr marL="914400" indent="-457200" algn="just">
              <a:buFont typeface="Arial" panose="020B0604020202020204" pitchFamily="34" charset="0"/>
              <a:buChar char="•"/>
            </a:pPr>
            <a:r>
              <a:rPr lang="en-GB" dirty="0"/>
              <a:t>C is mainly used for </a:t>
            </a:r>
            <a:r>
              <a:rPr lang="en-GB" dirty="0">
                <a:solidFill>
                  <a:srgbClr val="00B050"/>
                </a:solidFill>
              </a:rPr>
              <a:t>system-level programming</a:t>
            </a:r>
            <a:r>
              <a:rPr lang="en-GB" dirty="0"/>
              <a:t>.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r>
              <a:rPr lang="en-GB" dirty="0"/>
              <a:t>C++ is used for </a:t>
            </a:r>
            <a:r>
              <a:rPr lang="en-GB" dirty="0">
                <a:solidFill>
                  <a:srgbClr val="00B050"/>
                </a:solidFill>
              </a:rPr>
              <a:t>application-level programming </a:t>
            </a:r>
            <a:r>
              <a:rPr lang="en-GB" dirty="0"/>
              <a:t>and supports OOP.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914400" indent="-457200" algn="just">
              <a:buFont typeface="Arial" panose="020B0604020202020204" pitchFamily="34" charset="0"/>
              <a:buChar char="•"/>
            </a:pPr>
            <a:r>
              <a:rPr lang="en-IN" dirty="0"/>
              <a:t>The main difference is </a:t>
            </a:r>
            <a:r>
              <a:rPr lang="en-GB" dirty="0">
                <a:solidFill>
                  <a:srgbClr val="00B050"/>
                </a:solidFill>
              </a:rPr>
              <a:t>C++ supports classes and objects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while C does not.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65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DC476B-1B41-C007-FC40-D798436D76E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52400" y="1295400"/>
            <a:ext cx="11734800" cy="5334000"/>
          </a:xfrm>
        </p:spPr>
        <p:txBody>
          <a:bodyPr>
            <a:norm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Disadvantages of Conventional Programming (Procedural Programming)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r>
              <a:rPr lang="en-GB" dirty="0"/>
              <a:t>Conventional programming like </a:t>
            </a:r>
            <a:r>
              <a:rPr lang="en-GB" b="1" dirty="0"/>
              <a:t>C</a:t>
            </a:r>
            <a:r>
              <a:rPr lang="en-GB" dirty="0"/>
              <a:t> has the following limitations: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</a:rPr>
              <a:t>Lack of Data Security</a:t>
            </a:r>
          </a:p>
          <a:p>
            <a:pPr lvl="1" algn="just"/>
            <a:r>
              <a:rPr lang="en-GB" dirty="0"/>
              <a:t>All variables are global or passed around manually.</a:t>
            </a:r>
          </a:p>
          <a:p>
            <a:pPr lvl="1" algn="just"/>
            <a:r>
              <a:rPr lang="en-GB" dirty="0"/>
              <a:t>No mechanism to hide data (no encapsulation).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</a:rPr>
              <a:t>Code Reusability</a:t>
            </a:r>
          </a:p>
          <a:p>
            <a:pPr marL="12573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Difficult to reuse code, especially if functions rely on global variables.</a:t>
            </a:r>
          </a:p>
          <a:p>
            <a:pPr marL="914400" indent="-457200" algn="just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</a:rPr>
              <a:t>Scalability Issues</a:t>
            </a:r>
          </a:p>
          <a:p>
            <a:pPr marL="12573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As codebase grows, managing and modifying the program becomes complex.</a:t>
            </a:r>
          </a:p>
          <a:p>
            <a:pPr marL="12573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Hard to track changes or debug in large applications.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96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C8AA4F-7AD1-9B0B-F63A-9B435B53DD8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914400" y="1295400"/>
            <a:ext cx="10515600" cy="3962400"/>
          </a:xfrm>
        </p:spPr>
        <p:txBody>
          <a:bodyPr>
            <a:normAutofit fontScale="77500" lnSpcReduction="20000"/>
          </a:bodyPr>
          <a:lstStyle/>
          <a:p>
            <a:pPr marL="9144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</a:rPr>
              <a:t>Poor Mapping to Real World</a:t>
            </a:r>
          </a:p>
          <a:p>
            <a:pPr marL="13716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Procedural approach is not intuitive for </a:t>
            </a:r>
            <a:r>
              <a:rPr lang="en-GB" dirty="0" err="1"/>
              <a:t>modeling</a:t>
            </a:r>
            <a:r>
              <a:rPr lang="en-GB" dirty="0"/>
              <a:t> real-world entities.</a:t>
            </a:r>
          </a:p>
          <a:p>
            <a:pPr marL="13716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Real-world objects and </a:t>
            </a:r>
            <a:r>
              <a:rPr lang="en-GB" dirty="0" err="1"/>
              <a:t>behaviors</a:t>
            </a:r>
            <a:r>
              <a:rPr lang="en-GB" dirty="0"/>
              <a:t> are hard to simulate.</a:t>
            </a:r>
          </a:p>
          <a:p>
            <a:pPr marL="9144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</a:rPr>
              <a:t>No Polymorphism or Inheritance</a:t>
            </a:r>
          </a:p>
          <a:p>
            <a:pPr marL="13716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Can't define multiple </a:t>
            </a:r>
            <a:r>
              <a:rPr lang="en-GB" dirty="0" err="1"/>
              <a:t>behaviors</a:t>
            </a:r>
            <a:r>
              <a:rPr lang="en-GB" dirty="0"/>
              <a:t> for the same function name (no overloading).</a:t>
            </a:r>
          </a:p>
          <a:p>
            <a:pPr marL="13716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Can't reuse or extend functionality using inheritance.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B528E-49FD-4C31-E139-08D265D85B95}"/>
              </a:ext>
            </a:extLst>
          </p:cNvPr>
          <p:cNvSpPr txBox="1"/>
          <p:nvPr/>
        </p:nvSpPr>
        <p:spPr>
          <a:xfrm>
            <a:off x="381000" y="5486400"/>
            <a:ext cx="1165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0000FF"/>
                </a:solidFill>
              </a:rPr>
              <a:t>As software complexity increased, the need for </a:t>
            </a:r>
            <a:r>
              <a:rPr lang="en-GB" sz="2400" dirty="0">
                <a:solidFill>
                  <a:srgbClr val="00B050"/>
                </a:solidFill>
              </a:rPr>
              <a:t>better structure, reuse, and maintainability </a:t>
            </a:r>
            <a:r>
              <a:rPr lang="en-GB" sz="2400" dirty="0">
                <a:solidFill>
                  <a:srgbClr val="0000FF"/>
                </a:solidFill>
              </a:rPr>
              <a:t>led to the evolution of </a:t>
            </a:r>
            <a:r>
              <a:rPr lang="en-GB" sz="2400" dirty="0">
                <a:solidFill>
                  <a:srgbClr val="00B050"/>
                </a:solidFill>
              </a:rPr>
              <a:t>OBJECT-ORIENTED PROGRAMMING (OOP).</a:t>
            </a:r>
            <a:endParaRPr lang="en-IN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32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E85771-6DF5-26B6-5E87-28FC945FA3AC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 marL="9144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</a:rPr>
              <a:t>Install C++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If you want to run C++ on your own computer, you need two things: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A text editor, like Notepad, to write C++ code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A compiler, like GCC, to translate the C++ code into a language that the computer will understand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IN" dirty="0"/>
              <a:t>C++ IDE (Integrated Development Environment)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180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B53896-227A-3E5D-30FE-00F41CBD059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4800" y="1524000"/>
            <a:ext cx="5715000" cy="4531419"/>
          </a:xfrm>
        </p:spPr>
        <p:txBody>
          <a:bodyPr/>
          <a:lstStyle/>
          <a:p>
            <a:r>
              <a:rPr lang="en-GB" dirty="0">
                <a:solidFill>
                  <a:srgbClr val="0000FF"/>
                </a:solidFill>
              </a:rPr>
              <a:t>Example 1: </a:t>
            </a:r>
            <a:r>
              <a:rPr lang="en-GB" dirty="0">
                <a:solidFill>
                  <a:srgbClr val="FF0000"/>
                </a:solidFill>
              </a:rPr>
              <a:t>with namespace</a:t>
            </a:r>
          </a:p>
          <a:p>
            <a:r>
              <a:rPr lang="en-GB" dirty="0"/>
              <a:t>#include &lt;iostream&gt;</a:t>
            </a:r>
          </a:p>
          <a:p>
            <a:r>
              <a:rPr lang="en-GB" dirty="0">
                <a:solidFill>
                  <a:srgbClr val="C00000"/>
                </a:solidFill>
              </a:rPr>
              <a:t>using namespace std;</a:t>
            </a:r>
          </a:p>
          <a:p>
            <a:r>
              <a:rPr lang="en-GB" dirty="0"/>
              <a:t>int main() {</a:t>
            </a:r>
          </a:p>
          <a:p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"Hello, CPP " ;</a:t>
            </a:r>
          </a:p>
          <a:p>
            <a:r>
              <a:rPr lang="en-GB" dirty="0"/>
              <a:t>    return 0;</a:t>
            </a:r>
          </a:p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410C4-F26F-4F32-4F3F-93D57F62B7EA}"/>
              </a:ext>
            </a:extLst>
          </p:cNvPr>
          <p:cNvSpPr txBox="1"/>
          <p:nvPr/>
        </p:nvSpPr>
        <p:spPr>
          <a:xfrm>
            <a:off x="6553200" y="1752600"/>
            <a:ext cx="5181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</a:rPr>
              <a:t>Example 2: </a:t>
            </a:r>
            <a:r>
              <a:rPr lang="en-GB" sz="2800" dirty="0">
                <a:solidFill>
                  <a:srgbClr val="FF0000"/>
                </a:solidFill>
              </a:rPr>
              <a:t>without namespace</a:t>
            </a:r>
          </a:p>
          <a:p>
            <a:r>
              <a:rPr lang="en-IN" sz="2800" dirty="0"/>
              <a:t>#include &lt;iostream&gt;</a:t>
            </a:r>
          </a:p>
          <a:p>
            <a:endParaRPr lang="en-IN" sz="2800" dirty="0"/>
          </a:p>
          <a:p>
            <a:r>
              <a:rPr lang="en-IN" sz="2800" dirty="0"/>
              <a:t>int main() </a:t>
            </a:r>
          </a:p>
          <a:p>
            <a:r>
              <a:rPr lang="en-IN" sz="2800" dirty="0"/>
              <a:t>{</a:t>
            </a:r>
          </a:p>
          <a:p>
            <a:r>
              <a:rPr lang="en-IN" sz="2800" dirty="0"/>
              <a:t>    std::</a:t>
            </a:r>
            <a:r>
              <a:rPr lang="en-IN" sz="2800" dirty="0" err="1"/>
              <a:t>cout</a:t>
            </a:r>
            <a:r>
              <a:rPr lang="en-IN" sz="2800" dirty="0"/>
              <a:t> &lt;&lt; "Hello, CPP" ;</a:t>
            </a:r>
          </a:p>
          <a:p>
            <a:r>
              <a:rPr lang="en-IN" sz="2800" dirty="0"/>
              <a:t>    return 0;</a:t>
            </a:r>
          </a:p>
          <a:p>
            <a:r>
              <a:rPr lang="en-IN" sz="2800" dirty="0"/>
              <a:t>}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1353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AB05B-9346-E91E-8106-CD0BC83B023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4800" y="1561876"/>
            <a:ext cx="11658600" cy="4531419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Key Concepts of Object-Oriented Programming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GB" dirty="0">
              <a:solidFill>
                <a:srgbClr val="0070C0"/>
              </a:solidFill>
            </a:endParaRPr>
          </a:p>
          <a:p>
            <a:pPr marL="971550" indent="-514350">
              <a:buFont typeface="+mj-lt"/>
              <a:buAutoNum type="arabicPeriod"/>
            </a:pPr>
            <a:r>
              <a:rPr lang="en-IN" dirty="0"/>
              <a:t>Class</a:t>
            </a:r>
          </a:p>
          <a:p>
            <a:pPr marL="971550" indent="-514350">
              <a:buFont typeface="+mj-lt"/>
              <a:buAutoNum type="arabicPeriod"/>
            </a:pPr>
            <a:r>
              <a:rPr lang="en-IN" dirty="0"/>
              <a:t>Object</a:t>
            </a:r>
          </a:p>
          <a:p>
            <a:pPr marL="971550" indent="-514350">
              <a:buFont typeface="+mj-lt"/>
              <a:buAutoNum type="arabicPeriod"/>
            </a:pPr>
            <a:r>
              <a:rPr lang="en-IN" dirty="0"/>
              <a:t>Encapsulation</a:t>
            </a:r>
          </a:p>
          <a:p>
            <a:pPr marL="971550" indent="-514350">
              <a:buFont typeface="+mj-lt"/>
              <a:buAutoNum type="arabicPeriod"/>
            </a:pPr>
            <a:r>
              <a:rPr lang="en-IN" dirty="0"/>
              <a:t>Abstraction</a:t>
            </a:r>
          </a:p>
          <a:p>
            <a:pPr marL="971550" indent="-514350">
              <a:buFont typeface="+mj-lt"/>
              <a:buAutoNum type="arabicPeriod"/>
            </a:pPr>
            <a:r>
              <a:rPr lang="en-IN" dirty="0"/>
              <a:t>Inheritance</a:t>
            </a:r>
          </a:p>
          <a:p>
            <a:pPr marL="971550" indent="-514350">
              <a:buFont typeface="+mj-lt"/>
              <a:buAutoNum type="arabicPeriod"/>
            </a:pPr>
            <a:r>
              <a:rPr lang="en-IN" dirty="0"/>
              <a:t>Polymorphism</a:t>
            </a:r>
          </a:p>
          <a:p>
            <a:pPr marL="971550" indent="-514350">
              <a:buFont typeface="+mj-lt"/>
              <a:buAutoNum type="arabicPeriod"/>
            </a:pPr>
            <a:r>
              <a:rPr lang="en-IN" dirty="0"/>
              <a:t>Message Passing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962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77518C-8572-BCD9-418E-30710B22678F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Class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A blueprint or template for creating objects.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Defines attributes (data) and methods (functions) common to all objects of that type.</a:t>
            </a:r>
          </a:p>
          <a:p>
            <a:r>
              <a:rPr lang="en-GB" dirty="0"/>
              <a:t>	Example:</a:t>
            </a:r>
          </a:p>
          <a:p>
            <a:r>
              <a:rPr lang="en-GB" dirty="0"/>
              <a:t>		class Car </a:t>
            </a:r>
          </a:p>
          <a:p>
            <a:r>
              <a:rPr lang="en-GB" dirty="0"/>
              <a:t>		{</a:t>
            </a:r>
          </a:p>
          <a:p>
            <a:r>
              <a:rPr lang="en-GB" dirty="0"/>
              <a:t> 			public:</a:t>
            </a:r>
          </a:p>
          <a:p>
            <a:r>
              <a:rPr lang="en-GB" dirty="0"/>
              <a:t>   			 string brand;</a:t>
            </a:r>
          </a:p>
          <a:p>
            <a:r>
              <a:rPr lang="en-GB" dirty="0"/>
              <a:t>   			 void drive() </a:t>
            </a:r>
          </a:p>
          <a:p>
            <a:r>
              <a:rPr lang="en-GB" dirty="0"/>
              <a:t>			{</a:t>
            </a:r>
          </a:p>
          <a:p>
            <a:r>
              <a:rPr lang="en-GB" dirty="0"/>
              <a:t>      				</a:t>
            </a:r>
            <a:r>
              <a:rPr lang="en-GB" dirty="0" err="1"/>
              <a:t>cout</a:t>
            </a:r>
            <a:r>
              <a:rPr lang="en-GB" dirty="0"/>
              <a:t> &lt;&lt; "Driving the car";</a:t>
            </a:r>
          </a:p>
          <a:p>
            <a:r>
              <a:rPr lang="en-GB" dirty="0"/>
              <a:t>   			 }</a:t>
            </a:r>
          </a:p>
          <a:p>
            <a:r>
              <a:rPr lang="en-GB" dirty="0"/>
              <a:t>		};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627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28D863-6D1D-1DAE-5335-B6CC965A442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990600"/>
            <a:ext cx="11277600" cy="5638800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Object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A real-world entity created based on a class.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It holds actual data and can access class methods.</a:t>
            </a:r>
          </a:p>
          <a:p>
            <a:r>
              <a:rPr lang="en-GB" dirty="0"/>
              <a:t>Example:  Car c1, c2;</a:t>
            </a:r>
          </a:p>
          <a:p>
            <a:r>
              <a:rPr lang="en-GB" dirty="0">
                <a:solidFill>
                  <a:srgbClr val="FF0000"/>
                </a:solidFill>
              </a:rPr>
              <a:t>Encapsulation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Wrapping of data and functions into a single unit (class).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Ensures data hiding and security by using access specifiers (private, public, protected).</a:t>
            </a:r>
          </a:p>
          <a:p>
            <a:r>
              <a:rPr lang="en-GB" dirty="0"/>
              <a:t>	Example: 		class Student {</a:t>
            </a:r>
          </a:p>
          <a:p>
            <a:r>
              <a:rPr lang="en-GB" dirty="0"/>
              <a:t> 				 private:</a:t>
            </a:r>
          </a:p>
          <a:p>
            <a:r>
              <a:rPr lang="en-GB" dirty="0"/>
              <a:t>   					 int </a:t>
            </a:r>
            <a:r>
              <a:rPr lang="en-GB" dirty="0" err="1"/>
              <a:t>rollNo</a:t>
            </a:r>
            <a:r>
              <a:rPr lang="en-GB" dirty="0"/>
              <a:t>;</a:t>
            </a:r>
          </a:p>
          <a:p>
            <a:r>
              <a:rPr lang="en-GB" dirty="0"/>
              <a:t> 				 public:</a:t>
            </a:r>
          </a:p>
          <a:p>
            <a:r>
              <a:rPr lang="en-GB" dirty="0"/>
              <a:t>   					 void </a:t>
            </a:r>
            <a:r>
              <a:rPr lang="en-GB" dirty="0" err="1"/>
              <a:t>setRollNo</a:t>
            </a:r>
            <a:r>
              <a:rPr lang="en-GB" dirty="0"/>
              <a:t>(int r) { </a:t>
            </a:r>
            <a:r>
              <a:rPr lang="en-GB" dirty="0" err="1"/>
              <a:t>rollNo</a:t>
            </a:r>
            <a:r>
              <a:rPr lang="en-GB" dirty="0"/>
              <a:t> = r; }</a:t>
            </a:r>
          </a:p>
          <a:p>
            <a:r>
              <a:rPr lang="en-GB" dirty="0"/>
              <a:t>  					  int </a:t>
            </a:r>
            <a:r>
              <a:rPr lang="en-GB" dirty="0" err="1"/>
              <a:t>getRollNo</a:t>
            </a:r>
            <a:r>
              <a:rPr lang="en-GB" dirty="0"/>
              <a:t>() { return </a:t>
            </a:r>
            <a:r>
              <a:rPr lang="en-GB" dirty="0" err="1"/>
              <a:t>rollNo</a:t>
            </a:r>
            <a:r>
              <a:rPr lang="en-GB" dirty="0"/>
              <a:t>; }</a:t>
            </a:r>
          </a:p>
          <a:p>
            <a:r>
              <a:rPr lang="en-GB" dirty="0"/>
              <a:t>				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310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07F241-4EC1-B6B1-F1DD-12EB8CE4989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5143724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Abstraction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Hides complex internal details and shows only necessary features to the user.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Achieved using abstract classes or interfaces (pure virtual functions in C++).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	class Shape </a:t>
            </a:r>
          </a:p>
          <a:p>
            <a:r>
              <a:rPr lang="en-GB" dirty="0"/>
              <a:t>	{</a:t>
            </a:r>
          </a:p>
          <a:p>
            <a:r>
              <a:rPr lang="en-GB" dirty="0"/>
              <a:t> 	 	public:</a:t>
            </a:r>
          </a:p>
          <a:p>
            <a:r>
              <a:rPr lang="en-GB" dirty="0"/>
              <a:t>    			virtual void draw() = 0; // pure virtual function</a:t>
            </a:r>
          </a:p>
          <a:p>
            <a:r>
              <a:rPr lang="en-GB" dirty="0"/>
              <a:t>	};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396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4CB3A-9BCB-B6D3-E199-EE01B88089C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4" y="990600"/>
            <a:ext cx="10865715" cy="5638800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Inheritance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Mechanism where a class acquires properties and </a:t>
            </a:r>
            <a:r>
              <a:rPr lang="en-GB" dirty="0" err="1"/>
              <a:t>behaviors</a:t>
            </a:r>
            <a:r>
              <a:rPr lang="en-GB" dirty="0"/>
              <a:t> of another class.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Promotes code reusability.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Types: Single, Multilevel, Hierarchical, Multiple (in C++), Hybrid.</a:t>
            </a:r>
          </a:p>
          <a:p>
            <a:r>
              <a:rPr lang="en-GB" dirty="0"/>
              <a:t>Example:</a:t>
            </a:r>
          </a:p>
          <a:p>
            <a:r>
              <a:rPr lang="en-IN" dirty="0">
                <a:solidFill>
                  <a:srgbClr val="00B050"/>
                </a:solidFill>
              </a:rPr>
              <a:t>	class Vehicle </a:t>
            </a:r>
          </a:p>
          <a:p>
            <a:r>
              <a:rPr lang="en-IN" dirty="0">
                <a:solidFill>
                  <a:srgbClr val="00B050"/>
                </a:solidFill>
              </a:rPr>
              <a:t>	{	public:</a:t>
            </a:r>
          </a:p>
          <a:p>
            <a:r>
              <a:rPr lang="en-IN" dirty="0">
                <a:solidFill>
                  <a:srgbClr val="00B050"/>
                </a:solidFill>
              </a:rPr>
              <a:t>   		 void start() </a:t>
            </a:r>
          </a:p>
          <a:p>
            <a:r>
              <a:rPr lang="en-IN" dirty="0">
                <a:solidFill>
                  <a:srgbClr val="00B050"/>
                </a:solidFill>
              </a:rPr>
              <a:t>		{ 		</a:t>
            </a:r>
            <a:r>
              <a:rPr lang="en-IN" dirty="0" err="1">
                <a:solidFill>
                  <a:srgbClr val="00B050"/>
                </a:solidFill>
              </a:rPr>
              <a:t>cout</a:t>
            </a:r>
            <a:r>
              <a:rPr lang="en-IN" dirty="0">
                <a:solidFill>
                  <a:srgbClr val="00B050"/>
                </a:solidFill>
              </a:rPr>
              <a:t> &lt;&lt; "Starting vehicle"; 	}</a:t>
            </a:r>
          </a:p>
          <a:p>
            <a:r>
              <a:rPr lang="en-IN" dirty="0">
                <a:solidFill>
                  <a:srgbClr val="00B050"/>
                </a:solidFill>
              </a:rPr>
              <a:t>	};</a:t>
            </a:r>
          </a:p>
          <a:p>
            <a:r>
              <a:rPr lang="en-IN" dirty="0">
                <a:solidFill>
                  <a:srgbClr val="00B050"/>
                </a:solidFill>
              </a:rPr>
              <a:t>	class Car : public Vehicle </a:t>
            </a:r>
          </a:p>
          <a:p>
            <a:r>
              <a:rPr lang="en-IN" dirty="0">
                <a:solidFill>
                  <a:srgbClr val="00B050"/>
                </a:solidFill>
              </a:rPr>
              <a:t>	{  public:</a:t>
            </a:r>
          </a:p>
          <a:p>
            <a:r>
              <a:rPr lang="en-IN" dirty="0">
                <a:solidFill>
                  <a:srgbClr val="00B050"/>
                </a:solidFill>
              </a:rPr>
              <a:t>   		 void drive() </a:t>
            </a:r>
          </a:p>
          <a:p>
            <a:r>
              <a:rPr lang="en-IN" dirty="0">
                <a:solidFill>
                  <a:srgbClr val="00B050"/>
                </a:solidFill>
              </a:rPr>
              <a:t>		{ 		</a:t>
            </a:r>
            <a:r>
              <a:rPr lang="en-IN" dirty="0" err="1">
                <a:solidFill>
                  <a:srgbClr val="00B050"/>
                </a:solidFill>
              </a:rPr>
              <a:t>cout</a:t>
            </a:r>
            <a:r>
              <a:rPr lang="en-IN" dirty="0">
                <a:solidFill>
                  <a:srgbClr val="00B050"/>
                </a:solidFill>
              </a:rPr>
              <a:t> &lt;&lt; "Driving car"; 		}</a:t>
            </a:r>
          </a:p>
          <a:p>
            <a:r>
              <a:rPr lang="en-IN" dirty="0">
                <a:solidFill>
                  <a:srgbClr val="00B050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95147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79B3D4-82EE-AB5D-B672-743BC0130BA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066800"/>
            <a:ext cx="10515600" cy="5715000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Polymorphism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Ability of functions or objects to behave differently based on context.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dirty="0"/>
              <a:t>Types: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en-GB" b="1" dirty="0"/>
              <a:t>Compile-time (Static)</a:t>
            </a:r>
            <a:r>
              <a:rPr lang="en-GB" dirty="0"/>
              <a:t>: Function overloading, Operator overloading.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en-GB" b="1" dirty="0"/>
              <a:t>Run-time (Dynamic)</a:t>
            </a:r>
            <a:r>
              <a:rPr lang="en-GB" dirty="0"/>
              <a:t>: Function overriding using virtual functions.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		class </a:t>
            </a:r>
            <a:r>
              <a:rPr lang="en-GB" dirty="0">
                <a:solidFill>
                  <a:srgbClr val="C00000"/>
                </a:solidFill>
              </a:rPr>
              <a:t>Animal</a:t>
            </a:r>
            <a:r>
              <a:rPr lang="en-GB" dirty="0"/>
              <a:t> {</a:t>
            </a:r>
          </a:p>
          <a:p>
            <a:r>
              <a:rPr lang="en-GB" dirty="0"/>
              <a:t>		public:</a:t>
            </a:r>
          </a:p>
          <a:p>
            <a:r>
              <a:rPr lang="en-GB" dirty="0"/>
              <a:t>    			virtual void </a:t>
            </a:r>
            <a:r>
              <a:rPr lang="en-GB" dirty="0">
                <a:solidFill>
                  <a:srgbClr val="0000FF"/>
                </a:solidFill>
              </a:rPr>
              <a:t>sound</a:t>
            </a:r>
            <a:r>
              <a:rPr lang="en-GB" dirty="0"/>
              <a:t>()</a:t>
            </a:r>
          </a:p>
          <a:p>
            <a:r>
              <a:rPr lang="en-GB" dirty="0"/>
              <a:t>				 { </a:t>
            </a:r>
            <a:r>
              <a:rPr lang="en-GB" dirty="0" err="1"/>
              <a:t>cout</a:t>
            </a:r>
            <a:r>
              <a:rPr lang="en-GB" dirty="0"/>
              <a:t> &lt;&lt; "Some sound"; }</a:t>
            </a:r>
          </a:p>
          <a:p>
            <a:r>
              <a:rPr lang="en-GB" dirty="0"/>
              <a:t>		};</a:t>
            </a:r>
          </a:p>
          <a:p>
            <a:endParaRPr lang="en-GB" dirty="0"/>
          </a:p>
          <a:p>
            <a:r>
              <a:rPr lang="en-GB" dirty="0"/>
              <a:t>		class </a:t>
            </a:r>
            <a:r>
              <a:rPr lang="en-GB" dirty="0">
                <a:solidFill>
                  <a:srgbClr val="C00000"/>
                </a:solidFill>
              </a:rPr>
              <a:t>Dog</a:t>
            </a:r>
            <a:r>
              <a:rPr lang="en-GB" dirty="0"/>
              <a:t> : public Animal {</a:t>
            </a:r>
          </a:p>
          <a:p>
            <a:r>
              <a:rPr lang="en-GB" dirty="0"/>
              <a:t> 		 public:</a:t>
            </a:r>
          </a:p>
          <a:p>
            <a:r>
              <a:rPr lang="en-GB" dirty="0"/>
              <a:t>    			void </a:t>
            </a:r>
            <a:r>
              <a:rPr lang="en-GB" dirty="0">
                <a:solidFill>
                  <a:srgbClr val="0000FF"/>
                </a:solidFill>
              </a:rPr>
              <a:t>sound</a:t>
            </a:r>
            <a:r>
              <a:rPr lang="en-GB" dirty="0"/>
              <a:t>() override { </a:t>
            </a:r>
            <a:r>
              <a:rPr lang="en-GB" dirty="0" err="1"/>
              <a:t>cout</a:t>
            </a:r>
            <a:r>
              <a:rPr lang="en-GB" dirty="0"/>
              <a:t> &lt;&lt; "Bark"; }</a:t>
            </a:r>
          </a:p>
          <a:p>
            <a:r>
              <a:rPr lang="en-GB" dirty="0"/>
              <a:t>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429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DD2132-AB06-BC42-3809-0BAA92CC3CDD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GB" b="1" dirty="0"/>
              <a:t>Message Passing</a:t>
            </a:r>
          </a:p>
          <a:p>
            <a:r>
              <a:rPr lang="en-GB" dirty="0"/>
              <a:t>Objects communicate by sending and receiving data (messages).</a:t>
            </a:r>
          </a:p>
          <a:p>
            <a:r>
              <a:rPr lang="en-GB" dirty="0"/>
              <a:t>A method call is an example of message passing.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52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1377</Words>
  <Application>Microsoft Office PowerPoint</Application>
  <PresentationFormat>Widescreen</PresentationFormat>
  <Paragraphs>204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Aharoni</vt:lpstr>
      <vt:lpstr>Arial Rounded MT Bold</vt:lpstr>
      <vt:lpstr>Calibri Light</vt:lpstr>
      <vt:lpstr>Arial</vt:lpstr>
      <vt:lpstr>Abadi</vt:lpstr>
      <vt:lpstr>Calibri</vt:lpstr>
      <vt:lpstr>ADLaM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Chandra Sekhar Kolli</cp:lastModifiedBy>
  <cp:revision>11</cp:revision>
  <dcterms:created xsi:type="dcterms:W3CDTF">2025-05-29T13:02:32Z</dcterms:created>
  <dcterms:modified xsi:type="dcterms:W3CDTF">2025-06-30T01:38:39Z</dcterms:modified>
</cp:coreProperties>
</file>